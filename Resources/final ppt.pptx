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Roboto Mono" panose="00000009000000000000" pitchFamily="49" charset="0"/>
      <p:regular r:id="rId18"/>
      <p:bold r:id="rId19"/>
      <p:italic r:id="rId20"/>
      <p:boldItalic r:id="rId21"/>
    </p:embeddedFont>
    <p:embeddedFont>
      <p:font typeface="Urbanis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81076" y="1223069"/>
            <a:ext cx="782969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FINAL YEAR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85324" y="1613600"/>
            <a:ext cx="9220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Violence Detection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85333" y="2463105"/>
            <a:ext cx="822118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Using CNN-LSTM Models with MobileNetV2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81076" y="3653730"/>
            <a:ext cx="3724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Group Members: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81076" y="4149030"/>
            <a:ext cx="3724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Rahul Mishra (2022030550)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181076" y="4644330"/>
            <a:ext cx="3724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Anil Paneru (2022030505)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181076" y="5139630"/>
            <a:ext cx="3724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Mahesh Karki (2022030533)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286351" y="3653730"/>
            <a:ext cx="372442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Supervisor: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286351" y="4149030"/>
            <a:ext cx="372442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Mr. Abhishek (Assistant Professor)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86351" y="4968180"/>
            <a:ext cx="3724423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Panipat Institute of Engineering &amp;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The Problem: Manual Surveillance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21812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Current security relies heavily on human operators, leading to critical inefficiencies in real-world scenarios.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66775" y="30765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Slow &amp; Unreliable: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Humans cannot watch 20+ screens perfectly at once; distraction and error are inevitable.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382905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 Fatigue: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Operators experience "mental fatigue" after staring at screens for hours, missing key incidents.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45815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Reactive, Not Proactive: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Humans usually react only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after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 event. We need a system that acts immediately.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95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6005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5050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05050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05050"/>
            <a:ext cx="34861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Motivation &amp; Objectives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03910" y="33147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Public Safety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76300" y="37814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Leveraging AI to support SDG 16: Peace, Justice, and Strong Institutions by making communities safer.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575810" y="33147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Detection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8200" y="37814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Identify violence in video streams instantly to reduce emergency response times significantly.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47710" y="331470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Automated Alerting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0100" y="37814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 immediate notifications and detailed incident logging so no one has to stare at a screen.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619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6193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7875" y="2619375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60FD6-C076-D0F4-C8DC-DCDB3018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1"/>
            <a:ext cx="20822636" cy="11639981"/>
          </a:xfrm>
          <a:prstGeom prst="rect">
            <a:avLst/>
          </a:prstGeom>
        </p:spPr>
      </p:pic>
      <p:pic>
        <p:nvPicPr>
          <p:cNvPr id="4" name="Picture 3" descr="A diagram of a security system&#10;&#10;AI-generated content may be incorrect.">
            <a:extLst>
              <a:ext uri="{FF2B5EF4-FFF2-40B4-BE49-F238E27FC236}">
                <a16:creationId xmlns:a16="http://schemas.microsoft.com/office/drawing/2014/main" id="{BD50D3B7-37C5-FE73-F052-3D31307E3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477433"/>
            <a:ext cx="5748867" cy="3903133"/>
          </a:xfrm>
          <a:prstGeom prst="rect">
            <a:avLst/>
          </a:prstGeom>
        </p:spPr>
      </p:pic>
      <p:sp>
        <p:nvSpPr>
          <p:cNvPr id="5" name="Google Shape;195;p18">
            <a:extLst>
              <a:ext uri="{FF2B5EF4-FFF2-40B4-BE49-F238E27FC236}">
                <a16:creationId xmlns:a16="http://schemas.microsoft.com/office/drawing/2014/main" id="{8F4F7CA3-2372-4157-D503-FCB29DE052DD}"/>
              </a:ext>
            </a:extLst>
          </p:cNvPr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16FF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168D4-C6A6-D700-C8E1-09A2EFBCED1E}"/>
              </a:ext>
            </a:extLst>
          </p:cNvPr>
          <p:cNvSpPr txBox="1"/>
          <p:nvPr/>
        </p:nvSpPr>
        <p:spPr>
          <a:xfrm>
            <a:off x="755652" y="534084"/>
            <a:ext cx="6201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8" name="Google Shape;190;p18" descr="image.png">
            <a:extLst>
              <a:ext uri="{FF2B5EF4-FFF2-40B4-BE49-F238E27FC236}">
                <a16:creationId xmlns:a16="http://schemas.microsoft.com/office/drawing/2014/main" id="{CA8C153F-D884-5F8D-4C5B-D8A432DC1B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4058" y="1196319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1;p18" descr="image.png">
            <a:extLst>
              <a:ext uri="{FF2B5EF4-FFF2-40B4-BE49-F238E27FC236}">
                <a16:creationId xmlns:a16="http://schemas.microsoft.com/office/drawing/2014/main" id="{1579D6F2-A243-1C07-6CFD-7F4EB62BA1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0246" y="223550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92;p18" descr="image.png">
            <a:extLst>
              <a:ext uri="{FF2B5EF4-FFF2-40B4-BE49-F238E27FC236}">
                <a16:creationId xmlns:a16="http://schemas.microsoft.com/office/drawing/2014/main" id="{017173FD-65EF-F850-E22B-18865F9C90C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0885" y="346025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3;p18" descr="image.png">
            <a:extLst>
              <a:ext uri="{FF2B5EF4-FFF2-40B4-BE49-F238E27FC236}">
                <a16:creationId xmlns:a16="http://schemas.microsoft.com/office/drawing/2014/main" id="{1A5AD161-3D7D-7B63-5C16-91F327FE4FE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6933" y="56722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F5EDA6-8FEE-F0BA-DD12-616BB68F0D91}"/>
              </a:ext>
            </a:extLst>
          </p:cNvPr>
          <p:cNvSpPr txBox="1"/>
          <p:nvPr/>
        </p:nvSpPr>
        <p:spPr>
          <a:xfrm>
            <a:off x="6390746" y="1061467"/>
            <a:ext cx="6134100" cy="394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6FF62"/>
                </a:solidFill>
                <a:latin typeface="Urbanist"/>
                <a:ea typeface="Urbanist"/>
                <a:cs typeface="Urbanist"/>
                <a:sym typeface="Urbanist"/>
              </a:rPr>
              <a:t>Input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625C4C-8607-4940-CF8F-3DA5EF203A40}"/>
              </a:ext>
            </a:extLst>
          </p:cNvPr>
          <p:cNvSpPr txBox="1"/>
          <p:nvPr/>
        </p:nvSpPr>
        <p:spPr>
          <a:xfrm>
            <a:off x="6390746" y="2076055"/>
            <a:ext cx="6201832" cy="394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b="1" dirty="0">
                <a:solidFill>
                  <a:srgbClr val="00B050"/>
                </a:solidFill>
              </a:rPr>
              <a:t>Frame Processing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59D23-EB31-42F1-36F6-393729964357}"/>
              </a:ext>
            </a:extLst>
          </p:cNvPr>
          <p:cNvSpPr txBox="1"/>
          <p:nvPr/>
        </p:nvSpPr>
        <p:spPr>
          <a:xfrm>
            <a:off x="6557433" y="5535685"/>
            <a:ext cx="6201832" cy="394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b="1" dirty="0">
                <a:solidFill>
                  <a:srgbClr val="00B050"/>
                </a:solidFill>
              </a:rPr>
              <a:t>Alert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FADB9D-CCC7-8AAF-02B6-D9158F0C7F34}"/>
              </a:ext>
            </a:extLst>
          </p:cNvPr>
          <p:cNvSpPr txBox="1"/>
          <p:nvPr/>
        </p:nvSpPr>
        <p:spPr>
          <a:xfrm>
            <a:off x="6390746" y="3299112"/>
            <a:ext cx="6650566" cy="394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b="1" dirty="0">
                <a:solidFill>
                  <a:srgbClr val="16FF62"/>
                </a:solidFill>
                <a:latin typeface="Urbanist"/>
                <a:ea typeface="Urbanist"/>
                <a:cs typeface="Urbanist"/>
                <a:sym typeface="Urbanist"/>
              </a:rPr>
              <a:t>Classification</a:t>
            </a:r>
            <a:endParaRPr 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3438DD82-EE45-7974-3196-464A00468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5495" y="1482329"/>
            <a:ext cx="55125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CCTV cameras capture real-time video of an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video footage is converted into individual frames for analysis.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FCA839B4-8848-1ABC-61FA-3CB0AF1B0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6933" y="2484902"/>
            <a:ext cx="60863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Each frame is sent 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MobileNetV2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violence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MobileNetV2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a lightweight convolutional neural network used for image classification tasks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3DB5FDEE-816D-3D96-80ED-07553CA50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107" y="3734027"/>
            <a:ext cx="562989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Violence Detected: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Frames containing violent activity are sent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image enhancement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Enhanced frames are then used to send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alerts via a Telegram bot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notify authorities.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No Violence Detected: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Frames without violent activity are discarded to save processing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18140B-65DF-3F86-09B6-8AB815457865}"/>
              </a:ext>
            </a:extLst>
          </p:cNvPr>
          <p:cNvSpPr txBox="1"/>
          <p:nvPr/>
        </p:nvSpPr>
        <p:spPr>
          <a:xfrm>
            <a:off x="5799909" y="5930601"/>
            <a:ext cx="57047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The system sends instant notifications via </a:t>
            </a:r>
            <a:r>
              <a:rPr lang="en-US" sz="15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Telegram Bot</a:t>
            </a:r>
            <a:r>
              <a:rPr lang="en-US" sz="15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when violence is detected.</a:t>
            </a:r>
          </a:p>
        </p:txBody>
      </p:sp>
    </p:spTree>
    <p:extLst>
      <p:ext uri="{BB962C8B-B14F-4D97-AF65-F5344CB8AC3E}">
        <p14:creationId xmlns:p14="http://schemas.microsoft.com/office/powerpoint/2010/main" val="44245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952500"/>
            <a:ext cx="479059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The Solution: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Hybrid Architecture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14400" y="5105400"/>
            <a:ext cx="4419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"Like giving a lifeguard, a pair of magic binoculars that automatically points out anyone struggling."</a:t>
            </a:r>
            <a:endParaRPr dirty="0"/>
          </a:p>
        </p:txBody>
      </p:sp>
      <p:sp>
        <p:nvSpPr>
          <p:cNvPr id="137" name="Google Shape;137;p16"/>
          <p:cNvSpPr/>
          <p:nvPr/>
        </p:nvSpPr>
        <p:spPr>
          <a:xfrm>
            <a:off x="771525" y="5105400"/>
            <a:ext cx="28575" cy="609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242292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71525" y="25336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MobileNetV2 (The Eyes):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lightweight CNN that extracts visual features efficiently.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3333750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71525" y="38290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LSTM (The Memory):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temporal network that understands sequence and motion over 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The Training Data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81025" y="199072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Comprehensive Learning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81025" y="24003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teach the AI, we curated a comprehensive dataset specifically for action recognition.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5076825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Analogy: Teaching a child "dog" vs "cat" requires showing examples of both.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66775" y="352425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Diverse Scenarios: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Includes varied environments (streets, indoors) and authentic lighting conditions.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42767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Balanced Data: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Crucially includes both violent and non-violent actions so the AI distinguishes subtle nuances.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957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09737"/>
            <a:ext cx="5229225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00462"/>
            <a:ext cx="52292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Step 1: Spatial Analysis (MobileNetV2)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71550" y="2100262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1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The "Eyes"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71550" y="2509837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What it does: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MobileNetV2 scans individual frames to extract "visual patterns."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71550" y="3976687"/>
            <a:ext cx="44481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it works: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Like a human eye recognizing shapes, it identifies objects like "an arm," "a leg," or "a fist." It understands what is happening in a single static picture (Space/Spatial).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81750" y="1709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Why MobileNetV2?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23098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 CNNs are heavy. MobileNetV2 is "lightweight," designed to work fast on normal computers and edge devices, ensuring real-time performance.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119312"/>
            <a:ext cx="196601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6381750" y="3871912"/>
            <a:ext cx="521493" cy="238125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477000" y="3919537"/>
            <a:ext cx="46434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</a:t>
            </a:r>
            <a:endParaRPr dirty="0"/>
          </a:p>
        </p:txBody>
      </p:sp>
      <p:sp>
        <p:nvSpPr>
          <p:cNvPr id="175" name="Google Shape;175;p18"/>
          <p:cNvSpPr/>
          <p:nvPr/>
        </p:nvSpPr>
        <p:spPr>
          <a:xfrm>
            <a:off x="7036593" y="3871912"/>
            <a:ext cx="916632" cy="238125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131843" y="3919537"/>
            <a:ext cx="91663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09737"/>
            <a:ext cx="52292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09737"/>
            <a:ext cx="5229225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Step 2: Temporal Analysis (LSTM)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719262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772275" y="2100262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2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The "Memory"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72275" y="2509837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What it does: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LSTM processes the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sequence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of features over time.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72275" y="3671887"/>
            <a:ext cx="444817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Analogy: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photo of a fist near a face isn't necessarily violence (it could be a high-five). The LSTM remembers previous frames to track motion, understanding that the fist is moving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forcefully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119312"/>
            <a:ext cx="177551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Methodology Pipeline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81025" y="3554759"/>
            <a:ext cx="11029950" cy="1905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588740" y="3459509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25876" y="3840509"/>
            <a:ext cx="23162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1. Load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81025" y="4221509"/>
            <a:ext cx="220593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Input Video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3794670" y="3459509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731807" y="3840509"/>
            <a:ext cx="23162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2. Process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2786955" y="4221509"/>
            <a:ext cx="220593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Frame Extraction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6000601" y="3459509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937737" y="3840509"/>
            <a:ext cx="23162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3. Extract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992885" y="4221509"/>
            <a:ext cx="220593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MobileNet Features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8206531" y="3459509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7143668" y="3840509"/>
            <a:ext cx="23162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4. Analyze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198816" y="4221509"/>
            <a:ext cx="220593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LSTM Temporal Check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10412462" y="3459509"/>
            <a:ext cx="190500" cy="190500"/>
          </a:xfrm>
          <a:prstGeom prst="roundRect">
            <a:avLst>
              <a:gd name="adj" fmla="val 16667"/>
            </a:avLst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9349598" y="3840509"/>
            <a:ext cx="231622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5. Alert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404746" y="4221509"/>
            <a:ext cx="220593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Log &amp; Notify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9300"/>
            <a:ext cx="522922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9300"/>
            <a:ext cx="522922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Technology Stack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71550" y="240982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Hardware Specs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71550" y="292417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Optimized for standard computing with optional GPU acceleration.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772275" y="240982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 Software Stack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772275" y="2924175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Built on robust, open-source AI libraries.</a:t>
            </a:r>
            <a:endParaRPr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438400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1257300" y="3724275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CPU: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i5/i7 or Ryzen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257300" y="41719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8-16 GB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257300" y="461962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GPU: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Recommended for real-time inference speed</a:t>
            </a:r>
            <a:endParaRPr/>
          </a:p>
        </p:txBody>
      </p:sp>
      <p:pic>
        <p:nvPicPr>
          <p:cNvPr id="231" name="Google Shape;23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438400"/>
            <a:ext cx="23291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7058025" y="3419475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Language: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3.x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058025" y="38671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Core AI: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TensorFlow &amp; Keras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058025" y="4314825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OpenCV</a:t>
            </a:r>
            <a:endParaRPr/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3743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191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638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438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886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3338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6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465" y="1638300"/>
            <a:ext cx="3422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9837" y="1589011"/>
            <a:ext cx="3422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68537" y="3870943"/>
            <a:ext cx="3422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System Performance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176614" y="6071218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Rigorous testing demonstrated high reliability, with minimal false positives for "playful actions."</a:t>
            </a:r>
            <a:endParaRPr dirty="0"/>
          </a:p>
        </p:txBody>
      </p:sp>
      <p:sp>
        <p:nvSpPr>
          <p:cNvPr id="254" name="Google Shape;254;p22"/>
          <p:cNvSpPr txBox="1"/>
          <p:nvPr/>
        </p:nvSpPr>
        <p:spPr>
          <a:xfrm>
            <a:off x="844550" y="1844212"/>
            <a:ext cx="2641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96.7%</a:t>
            </a:r>
            <a:endParaRPr dirty="0"/>
          </a:p>
        </p:txBody>
      </p:sp>
      <p:sp>
        <p:nvSpPr>
          <p:cNvPr id="255" name="Google Shape;255;p22"/>
          <p:cNvSpPr txBox="1"/>
          <p:nvPr/>
        </p:nvSpPr>
        <p:spPr>
          <a:xfrm>
            <a:off x="771525" y="2924704"/>
            <a:ext cx="26415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dirty="0"/>
          </a:p>
        </p:txBody>
      </p:sp>
      <p:sp>
        <p:nvSpPr>
          <p:cNvPr id="256" name="Google Shape;256;p22"/>
          <p:cNvSpPr txBox="1"/>
          <p:nvPr/>
        </p:nvSpPr>
        <p:spPr>
          <a:xfrm>
            <a:off x="4251406" y="1802938"/>
            <a:ext cx="31420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97.30%</a:t>
            </a:r>
            <a:endParaRPr dirty="0"/>
          </a:p>
        </p:txBody>
      </p:sp>
      <p:sp>
        <p:nvSpPr>
          <p:cNvPr id="257" name="Google Shape;257;p22"/>
          <p:cNvSpPr txBox="1"/>
          <p:nvPr/>
        </p:nvSpPr>
        <p:spPr>
          <a:xfrm>
            <a:off x="4501646" y="2874600"/>
            <a:ext cx="26415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 dirty="0"/>
          </a:p>
        </p:txBody>
      </p:sp>
      <p:sp>
        <p:nvSpPr>
          <p:cNvPr id="258" name="Google Shape;258;p22"/>
          <p:cNvSpPr txBox="1"/>
          <p:nvPr/>
        </p:nvSpPr>
        <p:spPr>
          <a:xfrm>
            <a:off x="2621547" y="4160078"/>
            <a:ext cx="311658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96.00%</a:t>
            </a:r>
            <a:endParaRPr dirty="0"/>
          </a:p>
        </p:txBody>
      </p:sp>
      <p:sp>
        <p:nvSpPr>
          <p:cNvPr id="259" name="Google Shape;259;p22"/>
          <p:cNvSpPr txBox="1"/>
          <p:nvPr/>
        </p:nvSpPr>
        <p:spPr>
          <a:xfrm>
            <a:off x="2628290" y="5182451"/>
            <a:ext cx="26415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0673B-8494-F398-9FBE-835D5D356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7836" y="1557117"/>
            <a:ext cx="4398764" cy="33644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9837"/>
            <a:ext cx="522922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09837"/>
            <a:ext cx="5229225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Challenges &amp; Future Scope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971550" y="2900362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 Current Challenges</a:t>
            </a:r>
            <a:endParaRPr dirty="0"/>
          </a:p>
        </p:txBody>
      </p:sp>
      <p:sp>
        <p:nvSpPr>
          <p:cNvPr id="270" name="Google Shape;270;p23"/>
          <p:cNvSpPr txBox="1"/>
          <p:nvPr/>
        </p:nvSpPr>
        <p:spPr>
          <a:xfrm>
            <a:off x="6772275" y="2900362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 Future Enhancements</a:t>
            </a:r>
            <a:endParaRPr dirty="0"/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928937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257300" y="3376612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Low-light Conditions: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Accuracy drops in poorly lit environments.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257300" y="4129087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False Positives: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Sports or "play fighting" can occasionally be misclassified as violence.</a:t>
            </a:r>
            <a:endParaRPr dirty="0"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928937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7058025" y="3376612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Weapon Detection: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Integrating object detection for guns/knives.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058025" y="4129087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Audio Fusion: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Adding "ears" to hear screams or crashes for confirmation.</a:t>
            </a:r>
            <a:endParaRPr/>
          </a:p>
        </p:txBody>
      </p:sp>
      <p:pic>
        <p:nvPicPr>
          <p:cNvPr id="277" name="Google Shape;27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3395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4148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395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1481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1753641"/>
            <a:ext cx="7620000" cy="335071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2905601" y="2239416"/>
            <a:ext cx="63807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3057525" y="3106191"/>
            <a:ext cx="6076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We have successfully developed a hybrid CNN-LSTM system capable of efficient, real-time violence detection.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3057525" y="4123283"/>
            <a:ext cx="6076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 strong foundation for AI-driven surveillance and safer communities.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6200" y="-1"/>
            <a:ext cx="12268200" cy="69765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5AAB1-9440-8F90-003E-13A153FC76EF}"/>
              </a:ext>
            </a:extLst>
          </p:cNvPr>
          <p:cNvSpPr txBox="1"/>
          <p:nvPr/>
        </p:nvSpPr>
        <p:spPr>
          <a:xfrm>
            <a:off x="3683000" y="3102031"/>
            <a:ext cx="6096000" cy="481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FECCF-F6A7-B567-984D-B5F9E6BD405B}"/>
              </a:ext>
            </a:extLst>
          </p:cNvPr>
          <p:cNvSpPr txBox="1"/>
          <p:nvPr/>
        </p:nvSpPr>
        <p:spPr>
          <a:xfrm>
            <a:off x="3683000" y="2443559"/>
            <a:ext cx="65608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1057275" y="2713732"/>
            <a:ext cx="10077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1057275" y="3498502"/>
            <a:ext cx="10077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1057275" y="4283273"/>
            <a:ext cx="10077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1057275" y="5068044"/>
            <a:ext cx="10077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20879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2152650" y="2081361"/>
            <a:ext cx="8982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https://motionarray.imgix.net/digital-cctv-surveillance-screens-in-dark-control-room-of-hotel-2907784-high_0010.jpg?w=660&amp;q=60&amp;fit=max&amp;auto=format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2152650" y="2327076"/>
            <a:ext cx="8982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motionarray.com</a:t>
            </a:r>
            <a:endParaRPr/>
          </a:p>
        </p:txBody>
      </p:sp>
      <p:pic>
        <p:nvPicPr>
          <p:cNvPr id="312" name="Google Shape;31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28726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2152650" y="2866132"/>
            <a:ext cx="8982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https://images.stockcake.com/public/d/7/5/d750ec8a-af52-47b8-88c6-a7d1285da280_large/neural-network-visualization-stockcake.jpg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2152650" y="3111847"/>
            <a:ext cx="8982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id="315" name="Google Shape;31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36574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2152650" y="3650902"/>
            <a:ext cx="8982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https://media.istockphoto.com/id/129929951/video/video-montage-driving.jpg?s=640x640&amp;k=20&amp;c=tdvRrXz5YLoSMqCGI0uS8wp_Vpjltm5tsFIVyj1QTe0=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2152650" y="3896617"/>
            <a:ext cx="8982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id="318" name="Google Shape;31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44422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2152650" y="4435673"/>
            <a:ext cx="8982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https://miro.medium.com/1*laH0_xXEkFE0lKJu54gkFQ.png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2152650" y="4681388"/>
            <a:ext cx="8982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blog.mlreview.com</a:t>
            </a:r>
            <a:endParaRPr/>
          </a:p>
        </p:txBody>
      </p:sp>
      <p:pic>
        <p:nvPicPr>
          <p:cNvPr id="321" name="Google Shape;321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52269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2152650" y="5220444"/>
            <a:ext cx="8982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https://media.assettype.com/analyticsinsight%2Fimport%2Fwp-content%2Fuploads%2F2020%2F12%2FCybersecurity.jpg?w=480&amp;auto=format%2Ccompress&amp;fit=max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2152650" y="5466159"/>
            <a:ext cx="8982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www.analyticsinsight.net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972</Words>
  <Application>Microsoft Office PowerPoint</Application>
  <PresentationFormat>Widescreen</PresentationFormat>
  <Paragraphs>113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Roboto Mono</vt:lpstr>
      <vt:lpstr>Urbanist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Mahesh Karki</cp:lastModifiedBy>
  <cp:revision>10</cp:revision>
  <dcterms:modified xsi:type="dcterms:W3CDTF">2025-11-26T20:59:05Z</dcterms:modified>
</cp:coreProperties>
</file>